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9144000"/>
  <p:embeddedFontLst>
    <p:embeddedFont>
      <p:font typeface="Roboto Mon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gJrvIbBd/+daOV+rwOFRadM8VB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DDE3748-014C-4048-A8D0-654F7D16B4D8}">
  <a:tblStyle styleId="{9DDE3748-014C-4048-A8D0-654F7D16B4D8}"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Mono-bold.fntdata"/><Relationship Id="rId14" Type="http://schemas.openxmlformats.org/officeDocument/2006/relationships/slide" Target="slides/slide9.xml"/><Relationship Id="rId36" Type="http://schemas.openxmlformats.org/officeDocument/2006/relationships/font" Target="fonts/RobotoMono-regular.fntdata"/><Relationship Id="rId17" Type="http://schemas.openxmlformats.org/officeDocument/2006/relationships/slide" Target="slides/slide12.xml"/><Relationship Id="rId39" Type="http://schemas.openxmlformats.org/officeDocument/2006/relationships/font" Target="fonts/RobotoMono-boldItalic.fntdata"/><Relationship Id="rId16" Type="http://schemas.openxmlformats.org/officeDocument/2006/relationships/slide" Target="slides/slide11.xml"/><Relationship Id="rId38" Type="http://schemas.openxmlformats.org/officeDocument/2006/relationships/font" Target="fonts/RobotoMon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efcb0ed429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efcb0ed42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efcb0ed429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efcb0ed429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efcb0ed429_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efcb0ed429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efcb0ed429_0_1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efcb0ed429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fcb0ed429_0_1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efcb0ed429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efcb0ed429_0_1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efcb0ed429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fcb0ed429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efcb0ed42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efcb0ed429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efcb0ed42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efcb0ed429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efcb0ed42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fcb0ed429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efcb0ed42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efcb0ed429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efcb0ed42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fcb0ed429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efcb0ed429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efcb0ed429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efcb0ed429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efcb0ed429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efcb0ed429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efcb0ed429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efcb0ed429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efcb0ed429_0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efcb0ed429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efcb0ed429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efcb0ed429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efcb0ed429_0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efcb0ed429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efcb0ed429_0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efcb0ed429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0"/>
          <p:cNvSpPr/>
          <p:nvPr>
            <p:ph idx="2" type="pic"/>
          </p:nvPr>
        </p:nvSpPr>
        <p:spPr>
          <a:xfrm>
            <a:off x="5183188" y="987425"/>
            <a:ext cx="6172200" cy="4873625"/>
          </a:xfrm>
          <a:prstGeom prst="rect">
            <a:avLst/>
          </a:prstGeom>
          <a:noFill/>
          <a:ln>
            <a:noFill/>
          </a:ln>
        </p:spPr>
      </p:sp>
      <p:sp>
        <p:nvSpPr>
          <p:cNvPr id="58" name="Google Shape;5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watsonx.ai"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github.com/priyankad9919/Smart-Farming-AI"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33"/>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Machine Learning with IBM Cloud”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806432" y="2291515"/>
          <a:ext cx="3000000" cy="3000000"/>
        </p:xfrm>
        <a:graphic>
          <a:graphicData uri="http://schemas.openxmlformats.org/drawingml/2006/table">
            <a:tbl>
              <a:tblPr>
                <a:noFill/>
                <a:tableStyleId>{9DDE3748-014C-4048-A8D0-654F7D16B4D8}</a:tableStyleId>
              </a:tblPr>
              <a:tblGrid>
                <a:gridCol w="2158825"/>
                <a:gridCol w="2417625"/>
                <a:gridCol w="3858750"/>
                <a:gridCol w="2244950"/>
              </a:tblGrid>
              <a:tr h="1282025">
                <a:tc>
                  <a:txBody>
                    <a:bodyPr/>
                    <a:lstStyle/>
                    <a:p>
                      <a:pPr indent="0" lvl="0" marL="0" marR="0" rtl="0" algn="ctr">
                        <a:lnSpc>
                          <a:spcPct val="100000"/>
                        </a:lnSpc>
                        <a:spcBef>
                          <a:spcPts val="0"/>
                        </a:spcBef>
                        <a:spcAft>
                          <a:spcPts val="0"/>
                        </a:spcAft>
                        <a:buClr>
                          <a:srgbClr val="000000"/>
                        </a:buClr>
                        <a:buSzPts val="1800"/>
                        <a:buFont typeface="Arial"/>
                        <a:buNone/>
                      </a:pPr>
                      <a:r>
                        <a:rPr lang="en-US" sz="2000" u="none" cap="none" strike="noStrike"/>
                        <a:t>Student Name</a:t>
                      </a:r>
                      <a:endParaRPr sz="20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2000" u="none" cap="none" strike="noStrike"/>
                        <a:t>Recent Passport Photo</a:t>
                      </a:r>
                      <a:endParaRPr sz="20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2000" u="none" cap="none" strike="noStrike">
                          <a:solidFill>
                            <a:srgbClr val="000000"/>
                          </a:solidFill>
                          <a:latin typeface="Arial"/>
                          <a:ea typeface="Arial"/>
                          <a:cs typeface="Arial"/>
                          <a:sym typeface="Arial"/>
                        </a:rPr>
                        <a:t>Email ID </a:t>
                      </a:r>
                      <a:endParaRPr b="0" i="0" sz="20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2000" u="none" cap="none" strike="noStrike">
                          <a:solidFill>
                            <a:srgbClr val="000000"/>
                          </a:solidFill>
                          <a:latin typeface="Arial"/>
                          <a:ea typeface="Arial"/>
                          <a:cs typeface="Arial"/>
                          <a:sym typeface="Arial"/>
                        </a:rPr>
                        <a:t>Mobile number</a:t>
                      </a:r>
                      <a:endParaRPr b="0"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2000" u="none" cap="none" strike="noStrike">
                          <a:solidFill>
                            <a:srgbClr val="000000"/>
                          </a:solidFill>
                          <a:latin typeface="Arial"/>
                          <a:ea typeface="Arial"/>
                          <a:cs typeface="Arial"/>
                          <a:sym typeface="Arial"/>
                        </a:rPr>
                        <a:t>[WhatsApp] </a:t>
                      </a:r>
                      <a:endParaRPr b="0" i="0" sz="20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2956650">
                <a:tc>
                  <a:txBody>
                    <a:bodyPr/>
                    <a:lstStyle/>
                    <a:p>
                      <a:pPr indent="0" lvl="0" marL="0" marR="0" rtl="0" algn="l">
                        <a:lnSpc>
                          <a:spcPct val="100000"/>
                        </a:lnSpc>
                        <a:spcBef>
                          <a:spcPts val="0"/>
                        </a:spcBef>
                        <a:spcAft>
                          <a:spcPts val="0"/>
                        </a:spcAft>
                        <a:buClr>
                          <a:srgbClr val="000000"/>
                        </a:buClr>
                        <a:buSzPts val="1400"/>
                        <a:buFont typeface="Arial"/>
                        <a:buNone/>
                      </a:pPr>
                      <a:r>
                        <a:rPr lang="en-US" sz="2000"/>
                        <a:t>PRIYANKA DEY</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2000"/>
                        <a:t>priyankadey200513@gmail.com</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2000"/>
                        <a:t>6290448364</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sp>
        <p:nvSpPr>
          <p:cNvPr id="87" name="Google Shape;87;p2"/>
          <p:cNvSpPr txBox="1"/>
          <p:nvPr/>
        </p:nvSpPr>
        <p:spPr>
          <a:xfrm>
            <a:off x="1206164" y="1460724"/>
            <a:ext cx="102804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Domain of  Project – </a:t>
            </a:r>
            <a:r>
              <a:rPr b="1" lang="en-US" sz="2800"/>
              <a:t>Agriculture</a:t>
            </a:r>
            <a:endParaRPr b="1" i="0" sz="2800" u="none" cap="none" strike="noStrike">
              <a:solidFill>
                <a:srgbClr val="000000"/>
              </a:solidFill>
              <a:latin typeface="Arial"/>
              <a:ea typeface="Arial"/>
              <a:cs typeface="Arial"/>
              <a:sym typeface="Arial"/>
            </a:endParaRPr>
          </a:p>
        </p:txBody>
      </p:sp>
      <p:sp>
        <p:nvSpPr>
          <p:cNvPr id="88" name="Google Shape;88;p2"/>
          <p:cNvSpPr txBox="1"/>
          <p:nvPr/>
        </p:nvSpPr>
        <p:spPr>
          <a:xfrm>
            <a:off x="1206162" y="551965"/>
            <a:ext cx="95811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Project Tile – </a:t>
            </a:r>
            <a:r>
              <a:rPr b="1" lang="en-US" sz="2800"/>
              <a:t>AI Agent for Smart Farming Advice</a:t>
            </a:r>
            <a:endParaRPr b="1" i="0" sz="2800" u="none" cap="none" strike="noStrike">
              <a:solidFill>
                <a:srgbClr val="000000"/>
              </a:solidFill>
              <a:latin typeface="Arial"/>
              <a:ea typeface="Arial"/>
              <a:cs typeface="Arial"/>
              <a:sym typeface="Arial"/>
            </a:endParaRPr>
          </a:p>
        </p:txBody>
      </p:sp>
      <p:pic>
        <p:nvPicPr>
          <p:cNvPr id="89" name="Google Shape;89;p2" title="20260203_124519.jpg"/>
          <p:cNvPicPr preferRelativeResize="0"/>
          <p:nvPr/>
        </p:nvPicPr>
        <p:blipFill>
          <a:blip r:embed="rId3">
            <a:alphaModFix/>
          </a:blip>
          <a:stretch>
            <a:fillRect/>
          </a:stretch>
        </p:blipFill>
        <p:spPr>
          <a:xfrm>
            <a:off x="3016750" y="3573550"/>
            <a:ext cx="2221124" cy="28769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4"/>
          <p:cNvSpPr txBox="1"/>
          <p:nvPr/>
        </p:nvSpPr>
        <p:spPr>
          <a:xfrm>
            <a:off x="508825" y="1062600"/>
            <a:ext cx="11357700" cy="555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Problem Statement: </a:t>
            </a:r>
            <a:r>
              <a:rPr b="1" lang="en-US" sz="2000"/>
              <a:t>AI Agent for Smart Farming Advice</a:t>
            </a:r>
            <a:endParaRPr/>
          </a:p>
          <a:p>
            <a:pPr indent="0" lvl="0" marL="0" rtl="0" algn="l">
              <a:lnSpc>
                <a:spcPct val="150000"/>
              </a:lnSpc>
              <a:spcBef>
                <a:spcPts val="0"/>
              </a:spcBef>
              <a:spcAft>
                <a:spcPts val="0"/>
              </a:spcAft>
              <a:buClr>
                <a:schemeClr val="dk1"/>
              </a:buClr>
              <a:buSzPts val="1100"/>
              <a:buFont typeface="Arial"/>
              <a:buNone/>
            </a:pPr>
            <a:r>
              <a:rPr lang="en-US" sz="2000"/>
              <a:t>– An AI Agent for Smart Farming Advice, powered by RAG (Retrieval-Augmented Generation), supports small-scale farmers by delivering real-time, localized agricultural guidance. It retrieves trusted data on weather forecasts, soil conditions, crop recommendations, pest control measures, and current market prices from agricultural departments, meteorological sources, and agri-tech platforms.</a:t>
            </a:r>
            <a:endParaRPr sz="2000"/>
          </a:p>
          <a:p>
            <a:pPr indent="0" lvl="0" marL="0" rtl="0" algn="l">
              <a:lnSpc>
                <a:spcPct val="150000"/>
              </a:lnSpc>
              <a:spcBef>
                <a:spcPts val="0"/>
              </a:spcBef>
              <a:spcAft>
                <a:spcPts val="0"/>
              </a:spcAft>
              <a:buClr>
                <a:schemeClr val="dk1"/>
              </a:buClr>
              <a:buSzPts val="1100"/>
              <a:buFont typeface="Arial"/>
              <a:buNone/>
            </a:pPr>
            <a:r>
              <a:rPr lang="en-US" sz="2000"/>
              <a:t>Farmers can interact in their local language and ask questions like “What crop is best for this season?” or “What is today’s mandi rate for tomatoes?”</a:t>
            </a:r>
            <a:endParaRPr sz="2000"/>
          </a:p>
          <a:p>
            <a:pPr indent="0" lvl="0" marL="0" rtl="0" algn="l">
              <a:lnSpc>
                <a:spcPct val="150000"/>
              </a:lnSpc>
              <a:spcBef>
                <a:spcPts val="0"/>
              </a:spcBef>
              <a:spcAft>
                <a:spcPts val="0"/>
              </a:spcAft>
              <a:buClr>
                <a:schemeClr val="dk1"/>
              </a:buClr>
              <a:buSzPts val="1100"/>
              <a:buFont typeface="Arial"/>
              <a:buNone/>
            </a:pPr>
            <a:r>
              <a:rPr lang="en-US" sz="2000"/>
              <a:t>The agent ensures timely, data-driven decisions that reduce risk, increase yield, and boost income.</a:t>
            </a:r>
            <a:endParaRPr sz="2000"/>
          </a:p>
          <a:p>
            <a:pPr indent="0" lvl="0" marL="0" rtl="0" algn="l">
              <a:lnSpc>
                <a:spcPct val="150000"/>
              </a:lnSpc>
              <a:spcBef>
                <a:spcPts val="0"/>
              </a:spcBef>
              <a:spcAft>
                <a:spcPts val="0"/>
              </a:spcAft>
              <a:buClr>
                <a:schemeClr val="dk1"/>
              </a:buClr>
              <a:buSzPts val="1100"/>
              <a:buFont typeface="Arial"/>
              <a:buNone/>
            </a:pPr>
            <a:r>
              <a:rPr lang="en-US" sz="2000"/>
              <a:t>This AI-driven assistant bridges the knowledge gap and brings smart farming to the grassroots.</a:t>
            </a:r>
            <a:endParaRPr sz="2000"/>
          </a:p>
          <a:p>
            <a:pPr indent="0" lvl="0" marL="0" marR="0" rtl="0" algn="l">
              <a:lnSpc>
                <a:spcPct val="150000"/>
              </a:lnSpc>
              <a:spcBef>
                <a:spcPts val="0"/>
              </a:spcBef>
              <a:spcAft>
                <a:spcPts val="0"/>
              </a:spcAft>
              <a:buNone/>
            </a:pPr>
            <a:r>
              <a:t/>
            </a:r>
            <a:endParaRPr sz="2000"/>
          </a:p>
          <a:p>
            <a:pPr indent="0" lvl="0" marL="0" marR="0" rtl="0" algn="l">
              <a:lnSpc>
                <a:spcPct val="15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 name="Google Shape;95;p34"/>
          <p:cNvSpPr txBox="1"/>
          <p:nvPr/>
        </p:nvSpPr>
        <p:spPr>
          <a:xfrm>
            <a:off x="351954" y="401529"/>
            <a:ext cx="72147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Problem Statement -</a:t>
            </a:r>
            <a:endParaRPr b="1" i="0" sz="28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efcb0ed429_0_7"/>
          <p:cNvSpPr txBox="1"/>
          <p:nvPr>
            <p:ph type="title"/>
          </p:nvPr>
        </p:nvSpPr>
        <p:spPr>
          <a:xfrm>
            <a:off x="838200" y="365125"/>
            <a:ext cx="10515600" cy="9225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2800">
                <a:latin typeface="Arial"/>
                <a:ea typeface="Arial"/>
                <a:cs typeface="Arial"/>
                <a:sym typeface="Arial"/>
              </a:rPr>
              <a:t>Project Workflow - </a:t>
            </a:r>
            <a:endParaRPr b="1" sz="2800">
              <a:latin typeface="Arial"/>
              <a:ea typeface="Arial"/>
              <a:cs typeface="Arial"/>
              <a:sym typeface="Arial"/>
            </a:endParaRPr>
          </a:p>
        </p:txBody>
      </p:sp>
      <p:sp>
        <p:nvSpPr>
          <p:cNvPr id="101" name="Google Shape;101;g3efcb0ed429_0_7"/>
          <p:cNvSpPr txBox="1"/>
          <p:nvPr>
            <p:ph idx="1" type="body"/>
          </p:nvPr>
        </p:nvSpPr>
        <p:spPr>
          <a:xfrm>
            <a:off x="838200" y="1287625"/>
            <a:ext cx="10515600" cy="5387400"/>
          </a:xfrm>
          <a:prstGeom prst="rect">
            <a:avLst/>
          </a:prstGeom>
        </p:spPr>
        <p:txBody>
          <a:bodyPr anchorCtr="0" anchor="t" bIns="45700" lIns="91425" spcFirstLastPara="1" rIns="91425" wrap="square" tIns="45700">
            <a:noAutofit/>
          </a:bodyPr>
          <a:lstStyle/>
          <a:p>
            <a:pPr indent="0" lvl="0" marL="0" rtl="0" algn="ctr">
              <a:lnSpc>
                <a:spcPct val="70000"/>
              </a:lnSpc>
              <a:spcBef>
                <a:spcPts val="1000"/>
              </a:spcBef>
              <a:spcAft>
                <a:spcPts val="0"/>
              </a:spcAft>
              <a:buClr>
                <a:schemeClr val="dk1"/>
              </a:buClr>
              <a:buSzPts val="605"/>
              <a:buFont typeface="Arial"/>
              <a:buNone/>
            </a:pPr>
            <a:r>
              <a:rPr lang="en-US" sz="2000">
                <a:latin typeface="Arial"/>
                <a:ea typeface="Arial"/>
                <a:cs typeface="Arial"/>
                <a:sym typeface="Arial"/>
              </a:rPr>
              <a:t>Farmer</a:t>
            </a:r>
            <a:endParaRPr sz="2000">
              <a:latin typeface="Arial"/>
              <a:ea typeface="Arial"/>
              <a:cs typeface="Arial"/>
              <a:sym typeface="Arial"/>
            </a:endParaRPr>
          </a:p>
          <a:p>
            <a:pPr indent="0" lvl="0" marL="0" rtl="0" algn="ctr">
              <a:lnSpc>
                <a:spcPct val="70000"/>
              </a:lnSpc>
              <a:spcBef>
                <a:spcPts val="1000"/>
              </a:spcBef>
              <a:spcAft>
                <a:spcPts val="0"/>
              </a:spcAft>
              <a:buClr>
                <a:schemeClr val="dk1"/>
              </a:buClr>
              <a:buSzPts val="605"/>
              <a:buFont typeface="Arial"/>
              <a:buNone/>
            </a:pPr>
            <a:r>
              <a:rPr lang="en-US" sz="2000">
                <a:latin typeface="Arial"/>
                <a:ea typeface="Arial"/>
                <a:cs typeface="Arial"/>
                <a:sym typeface="Arial"/>
              </a:rPr>
              <a:t>     │</a:t>
            </a:r>
            <a:endParaRPr sz="2000">
              <a:latin typeface="Arial"/>
              <a:ea typeface="Arial"/>
              <a:cs typeface="Arial"/>
              <a:sym typeface="Arial"/>
            </a:endParaRPr>
          </a:p>
          <a:p>
            <a:pPr indent="0" lvl="0" marL="0" rtl="0" algn="ctr">
              <a:lnSpc>
                <a:spcPct val="70000"/>
              </a:lnSpc>
              <a:spcBef>
                <a:spcPts val="1000"/>
              </a:spcBef>
              <a:spcAft>
                <a:spcPts val="0"/>
              </a:spcAft>
              <a:buClr>
                <a:schemeClr val="dk1"/>
              </a:buClr>
              <a:buSzPts val="605"/>
              <a:buFont typeface="Arial"/>
              <a:buNone/>
            </a:pPr>
            <a:r>
              <a:rPr lang="en-US" sz="2000">
                <a:latin typeface="Arial"/>
                <a:ea typeface="Arial"/>
                <a:cs typeface="Arial"/>
                <a:sym typeface="Arial"/>
              </a:rPr>
              <a:t>     ▼</a:t>
            </a:r>
            <a:endParaRPr sz="2000">
              <a:latin typeface="Arial"/>
              <a:ea typeface="Arial"/>
              <a:cs typeface="Arial"/>
              <a:sym typeface="Arial"/>
            </a:endParaRPr>
          </a:p>
          <a:p>
            <a:pPr indent="0" lvl="0" marL="0" rtl="0" algn="ctr">
              <a:lnSpc>
                <a:spcPct val="70000"/>
              </a:lnSpc>
              <a:spcBef>
                <a:spcPts val="1000"/>
              </a:spcBef>
              <a:spcAft>
                <a:spcPts val="0"/>
              </a:spcAft>
              <a:buClr>
                <a:schemeClr val="dk1"/>
              </a:buClr>
              <a:buSzPts val="605"/>
              <a:buFont typeface="Arial"/>
              <a:buNone/>
            </a:pPr>
            <a:r>
              <a:rPr lang="en-US" sz="2000">
                <a:latin typeface="Arial"/>
                <a:ea typeface="Arial"/>
                <a:cs typeface="Arial"/>
                <a:sym typeface="Arial"/>
              </a:rPr>
              <a:t>Enter Soil &amp; Weather Parameters</a:t>
            </a:r>
            <a:endParaRPr sz="2000">
              <a:latin typeface="Arial"/>
              <a:ea typeface="Arial"/>
              <a:cs typeface="Arial"/>
              <a:sym typeface="Arial"/>
            </a:endParaRPr>
          </a:p>
          <a:p>
            <a:pPr indent="0" lvl="0" marL="0" rtl="0" algn="ctr">
              <a:lnSpc>
                <a:spcPct val="70000"/>
              </a:lnSpc>
              <a:spcBef>
                <a:spcPts val="1000"/>
              </a:spcBef>
              <a:spcAft>
                <a:spcPts val="0"/>
              </a:spcAft>
              <a:buClr>
                <a:schemeClr val="dk1"/>
              </a:buClr>
              <a:buSzPts val="605"/>
              <a:buFont typeface="Arial"/>
              <a:buNone/>
            </a:pPr>
            <a:r>
              <a:rPr lang="en-US" sz="2000">
                <a:latin typeface="Arial"/>
                <a:ea typeface="Arial"/>
                <a:cs typeface="Arial"/>
                <a:sym typeface="Arial"/>
              </a:rPr>
              <a:t>     │</a:t>
            </a:r>
            <a:endParaRPr sz="2000">
              <a:latin typeface="Arial"/>
              <a:ea typeface="Arial"/>
              <a:cs typeface="Arial"/>
              <a:sym typeface="Arial"/>
            </a:endParaRPr>
          </a:p>
          <a:p>
            <a:pPr indent="0" lvl="0" marL="0" rtl="0" algn="ctr">
              <a:lnSpc>
                <a:spcPct val="70000"/>
              </a:lnSpc>
              <a:spcBef>
                <a:spcPts val="1000"/>
              </a:spcBef>
              <a:spcAft>
                <a:spcPts val="0"/>
              </a:spcAft>
              <a:buClr>
                <a:schemeClr val="dk1"/>
              </a:buClr>
              <a:buSzPts val="605"/>
              <a:buFont typeface="Arial"/>
              <a:buNone/>
            </a:pPr>
            <a:r>
              <a:rPr lang="en-US" sz="2000">
                <a:latin typeface="Arial"/>
                <a:ea typeface="Arial"/>
                <a:cs typeface="Arial"/>
                <a:sym typeface="Arial"/>
              </a:rPr>
              <a:t>     ▼</a:t>
            </a:r>
            <a:endParaRPr sz="2000">
              <a:latin typeface="Arial"/>
              <a:ea typeface="Arial"/>
              <a:cs typeface="Arial"/>
              <a:sym typeface="Arial"/>
            </a:endParaRPr>
          </a:p>
          <a:p>
            <a:pPr indent="0" lvl="0" marL="0" rtl="0" algn="ctr">
              <a:lnSpc>
                <a:spcPct val="70000"/>
              </a:lnSpc>
              <a:spcBef>
                <a:spcPts val="1000"/>
              </a:spcBef>
              <a:spcAft>
                <a:spcPts val="0"/>
              </a:spcAft>
              <a:buClr>
                <a:schemeClr val="dk1"/>
              </a:buClr>
              <a:buSzPts val="605"/>
              <a:buFont typeface="Arial"/>
              <a:buNone/>
            </a:pPr>
            <a:r>
              <a:rPr lang="en-US" sz="2000">
                <a:latin typeface="Arial"/>
                <a:ea typeface="Arial"/>
                <a:cs typeface="Arial"/>
                <a:sym typeface="Arial"/>
              </a:rPr>
              <a:t>Random Forest Model</a:t>
            </a:r>
            <a:endParaRPr sz="2000">
              <a:latin typeface="Arial"/>
              <a:ea typeface="Arial"/>
              <a:cs typeface="Arial"/>
              <a:sym typeface="Arial"/>
            </a:endParaRPr>
          </a:p>
          <a:p>
            <a:pPr indent="0" lvl="0" marL="0" rtl="0" algn="ctr">
              <a:lnSpc>
                <a:spcPct val="70000"/>
              </a:lnSpc>
              <a:spcBef>
                <a:spcPts val="1000"/>
              </a:spcBef>
              <a:spcAft>
                <a:spcPts val="0"/>
              </a:spcAft>
              <a:buClr>
                <a:schemeClr val="dk1"/>
              </a:buClr>
              <a:buSzPts val="605"/>
              <a:buFont typeface="Arial"/>
              <a:buNone/>
            </a:pPr>
            <a:r>
              <a:rPr lang="en-US" sz="2000">
                <a:latin typeface="Arial"/>
                <a:ea typeface="Arial"/>
                <a:cs typeface="Arial"/>
                <a:sym typeface="Arial"/>
              </a:rPr>
              <a:t>     │</a:t>
            </a:r>
            <a:endParaRPr sz="2000">
              <a:latin typeface="Arial"/>
              <a:ea typeface="Arial"/>
              <a:cs typeface="Arial"/>
              <a:sym typeface="Arial"/>
            </a:endParaRPr>
          </a:p>
          <a:p>
            <a:pPr indent="0" lvl="0" marL="0" rtl="0" algn="ctr">
              <a:lnSpc>
                <a:spcPct val="70000"/>
              </a:lnSpc>
              <a:spcBef>
                <a:spcPts val="1000"/>
              </a:spcBef>
              <a:spcAft>
                <a:spcPts val="0"/>
              </a:spcAft>
              <a:buClr>
                <a:schemeClr val="dk1"/>
              </a:buClr>
              <a:buSzPts val="605"/>
              <a:buFont typeface="Arial"/>
              <a:buNone/>
            </a:pPr>
            <a:r>
              <a:rPr lang="en-US" sz="2000">
                <a:latin typeface="Arial"/>
                <a:ea typeface="Arial"/>
                <a:cs typeface="Arial"/>
                <a:sym typeface="Arial"/>
              </a:rPr>
              <a:t>     ▼</a:t>
            </a:r>
            <a:endParaRPr sz="2000">
              <a:latin typeface="Arial"/>
              <a:ea typeface="Arial"/>
              <a:cs typeface="Arial"/>
              <a:sym typeface="Arial"/>
            </a:endParaRPr>
          </a:p>
          <a:p>
            <a:pPr indent="0" lvl="0" marL="0" rtl="0" algn="ctr">
              <a:lnSpc>
                <a:spcPct val="70000"/>
              </a:lnSpc>
              <a:spcBef>
                <a:spcPts val="1000"/>
              </a:spcBef>
              <a:spcAft>
                <a:spcPts val="0"/>
              </a:spcAft>
              <a:buClr>
                <a:schemeClr val="dk1"/>
              </a:buClr>
              <a:buSzPts val="605"/>
              <a:buFont typeface="Arial"/>
              <a:buNone/>
            </a:pPr>
            <a:r>
              <a:rPr lang="en-US" sz="2000">
                <a:latin typeface="Arial"/>
                <a:ea typeface="Arial"/>
                <a:cs typeface="Arial"/>
                <a:sym typeface="Arial"/>
              </a:rPr>
              <a:t>Recommended Crop</a:t>
            </a:r>
            <a:endParaRPr sz="2000">
              <a:latin typeface="Arial"/>
              <a:ea typeface="Arial"/>
              <a:cs typeface="Arial"/>
              <a:sym typeface="Arial"/>
            </a:endParaRPr>
          </a:p>
          <a:p>
            <a:pPr indent="0" lvl="0" marL="0" rtl="0" algn="ctr">
              <a:lnSpc>
                <a:spcPct val="70000"/>
              </a:lnSpc>
              <a:spcBef>
                <a:spcPts val="1000"/>
              </a:spcBef>
              <a:spcAft>
                <a:spcPts val="0"/>
              </a:spcAft>
              <a:buClr>
                <a:schemeClr val="dk1"/>
              </a:buClr>
              <a:buSzPts val="605"/>
              <a:buFont typeface="Arial"/>
              <a:buNone/>
            </a:pPr>
            <a:r>
              <a:rPr lang="en-US" sz="2000">
                <a:latin typeface="Arial"/>
                <a:ea typeface="Arial"/>
                <a:cs typeface="Arial"/>
                <a:sym typeface="Arial"/>
              </a:rPr>
              <a:t>     │</a:t>
            </a:r>
            <a:endParaRPr sz="2000">
              <a:latin typeface="Arial"/>
              <a:ea typeface="Arial"/>
              <a:cs typeface="Arial"/>
              <a:sym typeface="Arial"/>
            </a:endParaRPr>
          </a:p>
          <a:p>
            <a:pPr indent="0" lvl="0" marL="0" rtl="0" algn="ctr">
              <a:lnSpc>
                <a:spcPct val="70000"/>
              </a:lnSpc>
              <a:spcBef>
                <a:spcPts val="1000"/>
              </a:spcBef>
              <a:spcAft>
                <a:spcPts val="0"/>
              </a:spcAft>
              <a:buClr>
                <a:schemeClr val="dk1"/>
              </a:buClr>
              <a:buSzPts val="605"/>
              <a:buFont typeface="Arial"/>
              <a:buNone/>
            </a:pPr>
            <a:r>
              <a:rPr lang="en-US" sz="2000">
                <a:latin typeface="Arial"/>
                <a:ea typeface="Arial"/>
                <a:cs typeface="Arial"/>
                <a:sym typeface="Arial"/>
              </a:rPr>
              <a:t>     ▼</a:t>
            </a:r>
            <a:endParaRPr sz="2000">
              <a:latin typeface="Arial"/>
              <a:ea typeface="Arial"/>
              <a:cs typeface="Arial"/>
              <a:sym typeface="Arial"/>
            </a:endParaRPr>
          </a:p>
          <a:p>
            <a:pPr indent="0" lvl="0" marL="0" rtl="0" algn="ctr">
              <a:lnSpc>
                <a:spcPct val="70000"/>
              </a:lnSpc>
              <a:spcBef>
                <a:spcPts val="1000"/>
              </a:spcBef>
              <a:spcAft>
                <a:spcPts val="0"/>
              </a:spcAft>
              <a:buClr>
                <a:schemeClr val="dk1"/>
              </a:buClr>
              <a:buSzPts val="605"/>
              <a:buFont typeface="Arial"/>
              <a:buNone/>
            </a:pPr>
            <a:r>
              <a:rPr lang="en-US" sz="2000">
                <a:latin typeface="Arial"/>
                <a:ea typeface="Arial"/>
                <a:cs typeface="Arial"/>
                <a:sym typeface="Arial"/>
              </a:rPr>
              <a:t>IBM watsonx.ai (Llama 3.3)</a:t>
            </a:r>
            <a:endParaRPr sz="2000">
              <a:latin typeface="Arial"/>
              <a:ea typeface="Arial"/>
              <a:cs typeface="Arial"/>
              <a:sym typeface="Arial"/>
            </a:endParaRPr>
          </a:p>
          <a:p>
            <a:pPr indent="0" lvl="0" marL="0" rtl="0" algn="ctr">
              <a:lnSpc>
                <a:spcPct val="70000"/>
              </a:lnSpc>
              <a:spcBef>
                <a:spcPts val="1000"/>
              </a:spcBef>
              <a:spcAft>
                <a:spcPts val="0"/>
              </a:spcAft>
              <a:buClr>
                <a:schemeClr val="dk1"/>
              </a:buClr>
              <a:buSzPts val="605"/>
              <a:buFont typeface="Arial"/>
              <a:buNone/>
            </a:pPr>
            <a:r>
              <a:rPr lang="en-US" sz="2000">
                <a:latin typeface="Arial"/>
                <a:ea typeface="Arial"/>
                <a:cs typeface="Arial"/>
                <a:sym typeface="Arial"/>
              </a:rPr>
              <a:t>     │</a:t>
            </a:r>
            <a:endParaRPr sz="2000">
              <a:latin typeface="Arial"/>
              <a:ea typeface="Arial"/>
              <a:cs typeface="Arial"/>
              <a:sym typeface="Arial"/>
            </a:endParaRPr>
          </a:p>
          <a:p>
            <a:pPr indent="0" lvl="0" marL="0" rtl="0" algn="ctr">
              <a:lnSpc>
                <a:spcPct val="70000"/>
              </a:lnSpc>
              <a:spcBef>
                <a:spcPts val="1000"/>
              </a:spcBef>
              <a:spcAft>
                <a:spcPts val="0"/>
              </a:spcAft>
              <a:buClr>
                <a:schemeClr val="dk1"/>
              </a:buClr>
              <a:buSzPts val="605"/>
              <a:buFont typeface="Arial"/>
              <a:buNone/>
            </a:pPr>
            <a:r>
              <a:rPr lang="en-US" sz="2000">
                <a:latin typeface="Arial"/>
                <a:ea typeface="Arial"/>
                <a:cs typeface="Arial"/>
                <a:sym typeface="Arial"/>
              </a:rPr>
              <a:t>     ▼</a:t>
            </a:r>
            <a:endParaRPr sz="2000">
              <a:latin typeface="Arial"/>
              <a:ea typeface="Arial"/>
              <a:cs typeface="Arial"/>
              <a:sym typeface="Arial"/>
            </a:endParaRPr>
          </a:p>
          <a:p>
            <a:pPr indent="0" lvl="0" marL="0" rtl="0" algn="ctr">
              <a:lnSpc>
                <a:spcPct val="70000"/>
              </a:lnSpc>
              <a:spcBef>
                <a:spcPts val="1000"/>
              </a:spcBef>
              <a:spcAft>
                <a:spcPts val="0"/>
              </a:spcAft>
              <a:buClr>
                <a:schemeClr val="dk1"/>
              </a:buClr>
              <a:buSzPts val="605"/>
              <a:buFont typeface="Arial"/>
              <a:buNone/>
            </a:pPr>
            <a:r>
              <a:rPr lang="en-US" sz="2000">
                <a:latin typeface="Arial"/>
                <a:ea typeface="Arial"/>
                <a:cs typeface="Arial"/>
                <a:sym typeface="Arial"/>
              </a:rPr>
              <a:t>AI Farming Guide</a:t>
            </a:r>
            <a:endParaRPr sz="2000">
              <a:latin typeface="Arial"/>
              <a:ea typeface="Arial"/>
              <a:cs typeface="Arial"/>
              <a:sym typeface="Arial"/>
            </a:endParaRPr>
          </a:p>
          <a:p>
            <a:pPr indent="0" lvl="0" marL="0" rtl="0" algn="l">
              <a:lnSpc>
                <a:spcPct val="70000"/>
              </a:lnSpc>
              <a:spcBef>
                <a:spcPts val="1000"/>
              </a:spcBef>
              <a:spcAft>
                <a:spcPts val="0"/>
              </a:spcAft>
              <a:buSzPts val="605"/>
              <a:buNone/>
            </a:pPr>
            <a:r>
              <a:t/>
            </a:r>
            <a:endParaRPr sz="11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5"/>
          <p:cNvSpPr txBox="1"/>
          <p:nvPr/>
        </p:nvSpPr>
        <p:spPr>
          <a:xfrm>
            <a:off x="523875" y="1216876"/>
            <a:ext cx="11131200" cy="5017800"/>
          </a:xfrm>
          <a:prstGeom prst="rect">
            <a:avLst/>
          </a:prstGeom>
          <a:noFill/>
          <a:ln>
            <a:noFill/>
          </a:ln>
        </p:spPr>
        <p:txBody>
          <a:bodyPr anchorCtr="0" anchor="t" bIns="45700" lIns="91425" spcFirstLastPara="1" rIns="91425" wrap="square" tIns="45700">
            <a:spAutoFit/>
          </a:bodyPr>
          <a:lstStyle/>
          <a:p>
            <a:pPr indent="-355600" lvl="0" marL="457200" rtl="0" algn="l">
              <a:lnSpc>
                <a:spcPct val="150000"/>
              </a:lnSpc>
              <a:spcBef>
                <a:spcPts val="0"/>
              </a:spcBef>
              <a:spcAft>
                <a:spcPts val="0"/>
              </a:spcAft>
              <a:buSzPts val="2000"/>
              <a:buChar char="●"/>
            </a:pPr>
            <a:r>
              <a:rPr lang="en-US" sz="2000"/>
              <a:t>Developed a Machine Learning-based crop recommendation system using Random Forest Classifier.</a:t>
            </a:r>
            <a:endParaRPr sz="2000"/>
          </a:p>
          <a:p>
            <a:pPr indent="-355600" lvl="0" marL="457200" rtl="0" algn="l">
              <a:lnSpc>
                <a:spcPct val="150000"/>
              </a:lnSpc>
              <a:spcBef>
                <a:spcPts val="0"/>
              </a:spcBef>
              <a:spcAft>
                <a:spcPts val="0"/>
              </a:spcAft>
              <a:buSzPts val="2000"/>
              <a:buChar char="●"/>
            </a:pPr>
            <a:r>
              <a:rPr lang="en-US" sz="2000"/>
              <a:t>Trained the model on the Crop Recommendation Dataset containing soil and climatic parameters.</a:t>
            </a:r>
            <a:endParaRPr sz="2000"/>
          </a:p>
          <a:p>
            <a:pPr indent="-355600" lvl="0" marL="457200" rtl="0" algn="l">
              <a:lnSpc>
                <a:spcPct val="150000"/>
              </a:lnSpc>
              <a:spcBef>
                <a:spcPts val="0"/>
              </a:spcBef>
              <a:spcAft>
                <a:spcPts val="0"/>
              </a:spcAft>
              <a:buSzPts val="2000"/>
              <a:buChar char="●"/>
            </a:pPr>
            <a:r>
              <a:rPr lang="en-US" sz="2000"/>
              <a:t>Built an interactive Streamlit web application for user interaction.</a:t>
            </a:r>
            <a:endParaRPr sz="2000"/>
          </a:p>
          <a:p>
            <a:pPr indent="-355600" lvl="0" marL="457200" rtl="0" algn="l">
              <a:lnSpc>
                <a:spcPct val="150000"/>
              </a:lnSpc>
              <a:spcBef>
                <a:spcPts val="0"/>
              </a:spcBef>
              <a:spcAft>
                <a:spcPts val="0"/>
              </a:spcAft>
              <a:buSzPts val="2000"/>
              <a:buChar char="●"/>
            </a:pPr>
            <a:r>
              <a:rPr lang="en-US" sz="2000"/>
              <a:t>Integrated IBM watsonx.ai foundation model (Meta Llama 3.3 70B Instruct) to generate detailed farming guidance.</a:t>
            </a:r>
            <a:endParaRPr sz="2000"/>
          </a:p>
          <a:p>
            <a:pPr indent="-355600" lvl="0" marL="457200" rtl="0" algn="l">
              <a:lnSpc>
                <a:spcPct val="150000"/>
              </a:lnSpc>
              <a:spcBef>
                <a:spcPts val="0"/>
              </a:spcBef>
              <a:spcAft>
                <a:spcPts val="0"/>
              </a:spcAft>
              <a:buSzPts val="2000"/>
              <a:buChar char="●"/>
            </a:pPr>
            <a:r>
              <a:rPr lang="en-US" sz="2000"/>
              <a:t>The application provides crop prediction followed by AI-generated recommendations on soil, fertilizers, irrigation, diseases, pest management, and government schemes.</a:t>
            </a:r>
            <a:endParaRPr sz="2000"/>
          </a:p>
          <a:p>
            <a:pPr indent="0" lvl="0" marL="0" marR="0" rtl="0" algn="l">
              <a:lnSpc>
                <a:spcPct val="150000"/>
              </a:lnSpc>
              <a:spcBef>
                <a:spcPts val="0"/>
              </a:spcBef>
              <a:spcAft>
                <a:spcPts val="0"/>
              </a:spcAft>
              <a:buNone/>
            </a:pP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 </a:t>
            </a:r>
            <a:endParaRPr/>
          </a:p>
        </p:txBody>
      </p:sp>
      <p:sp>
        <p:nvSpPr>
          <p:cNvPr id="107" name="Google Shape;107;p35"/>
          <p:cNvSpPr txBox="1"/>
          <p:nvPr/>
        </p:nvSpPr>
        <p:spPr>
          <a:xfrm>
            <a:off x="158538" y="203047"/>
            <a:ext cx="72147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Proposed Solution -</a:t>
            </a:r>
            <a:endParaRPr b="1" i="0" sz="28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6"/>
          <p:cNvSpPr txBox="1"/>
          <p:nvPr/>
        </p:nvSpPr>
        <p:spPr>
          <a:xfrm>
            <a:off x="777240" y="484632"/>
            <a:ext cx="7123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Technology Used</a:t>
            </a:r>
            <a:endParaRPr b="1" i="0" sz="2800" u="none" cap="none" strike="noStrike">
              <a:solidFill>
                <a:srgbClr val="000000"/>
              </a:solidFill>
              <a:latin typeface="Arial"/>
              <a:ea typeface="Arial"/>
              <a:cs typeface="Arial"/>
              <a:sym typeface="Arial"/>
            </a:endParaRPr>
          </a:p>
        </p:txBody>
      </p:sp>
      <p:sp>
        <p:nvSpPr>
          <p:cNvPr id="113" name="Google Shape;113;p36"/>
          <p:cNvSpPr txBox="1"/>
          <p:nvPr/>
        </p:nvSpPr>
        <p:spPr>
          <a:xfrm>
            <a:off x="777250" y="938325"/>
            <a:ext cx="10515600" cy="5962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Clr>
                <a:schemeClr val="dk1"/>
              </a:buClr>
              <a:buSzPts val="1100"/>
              <a:buFont typeface="Arial"/>
              <a:buNone/>
            </a:pPr>
            <a:r>
              <a:rPr b="1" lang="en-US" sz="1900">
                <a:solidFill>
                  <a:schemeClr val="dk1"/>
                </a:solidFill>
              </a:rPr>
              <a:t>IBM Cloud: </a:t>
            </a:r>
            <a:r>
              <a:rPr lang="en-US" sz="1900">
                <a:solidFill>
                  <a:schemeClr val="dk1"/>
                </a:solidFill>
              </a:rPr>
              <a:t>IBM Cloud Lite provides the cloud platform for deploying and accessing IBM watsonx.ai foundation models.</a:t>
            </a:r>
            <a:endParaRPr sz="19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900">
                <a:solidFill>
                  <a:schemeClr val="dk1"/>
                </a:solidFill>
              </a:rPr>
              <a:t>IBM </a:t>
            </a:r>
            <a:r>
              <a:rPr b="1" lang="en-US" sz="1900" u="sng">
                <a:solidFill>
                  <a:schemeClr val="hlink"/>
                </a:solidFill>
                <a:hlinkClick r:id="rId3"/>
              </a:rPr>
              <a:t>watsonx.ai</a:t>
            </a:r>
            <a:r>
              <a:rPr b="1" lang="en-US" sz="1900">
                <a:solidFill>
                  <a:schemeClr val="dk1"/>
                </a:solidFill>
              </a:rPr>
              <a:t>: </a:t>
            </a:r>
            <a:r>
              <a:rPr lang="en-US" sz="1900">
                <a:solidFill>
                  <a:schemeClr val="dk1"/>
                </a:solidFill>
              </a:rPr>
              <a:t>Used to generate AI-powered agricultural recommendations.</a:t>
            </a:r>
            <a:endParaRPr sz="1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900">
                <a:solidFill>
                  <a:schemeClr val="dk1"/>
                </a:solidFill>
              </a:rPr>
              <a:t>IBM BOB (Build on IBM): </a:t>
            </a:r>
            <a:r>
              <a:rPr lang="en-US" sz="1900">
                <a:solidFill>
                  <a:schemeClr val="dk1"/>
                </a:solidFill>
              </a:rPr>
              <a:t>Assisted in project development by providing coding guidance, debugging support, and implementation recommendations during the development of the Smart Farming AI application.</a:t>
            </a:r>
            <a:endParaRPr sz="19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900">
                <a:solidFill>
                  <a:schemeClr val="dk1"/>
                </a:solidFill>
              </a:rPr>
              <a:t>ML Algorithm / Model Used: </a:t>
            </a:r>
            <a:r>
              <a:rPr lang="en-US" sz="1900">
                <a:solidFill>
                  <a:schemeClr val="dk1"/>
                </a:solidFill>
              </a:rPr>
              <a:t>Random Forest Classifier</a:t>
            </a:r>
            <a:endParaRPr sz="19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900">
                <a:solidFill>
                  <a:schemeClr val="dk1"/>
                </a:solidFill>
              </a:rPr>
              <a:t>Python Libraries Used:</a:t>
            </a:r>
            <a:r>
              <a:rPr lang="en-US" sz="1900">
                <a:solidFill>
                  <a:schemeClr val="dk1"/>
                </a:solidFill>
              </a:rPr>
              <a:t> Pandas, Scikit-learn, Streamlit</a:t>
            </a:r>
            <a:endParaRPr sz="19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900">
                <a:solidFill>
                  <a:schemeClr val="dk1"/>
                </a:solidFill>
              </a:rPr>
              <a:t>Accuracy Obtained: 99.55%</a:t>
            </a:r>
            <a:endParaRPr b="1" sz="19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900">
                <a:solidFill>
                  <a:schemeClr val="dk1"/>
                </a:solidFill>
              </a:rPr>
              <a:t>Enhancements and Hyperparameter Tuning:</a:t>
            </a:r>
            <a:endParaRPr b="1" sz="1900">
              <a:solidFill>
                <a:schemeClr val="dk1"/>
              </a:solidFill>
            </a:endParaRPr>
          </a:p>
          <a:p>
            <a:pPr indent="-349250" lvl="0" marL="457200" rtl="0" algn="l">
              <a:lnSpc>
                <a:spcPct val="115000"/>
              </a:lnSpc>
              <a:spcBef>
                <a:spcPts val="1200"/>
              </a:spcBef>
              <a:spcAft>
                <a:spcPts val="0"/>
              </a:spcAft>
              <a:buClr>
                <a:schemeClr val="dk1"/>
              </a:buClr>
              <a:buSzPts val="1900"/>
              <a:buChar char="●"/>
            </a:pPr>
            <a:r>
              <a:rPr lang="en-US" sz="1900">
                <a:solidFill>
                  <a:schemeClr val="dk1"/>
                </a:solidFill>
              </a:rPr>
              <a:t>Feature preprocessing</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n-US" sz="1900">
                <a:solidFill>
                  <a:schemeClr val="dk1"/>
                </a:solidFill>
              </a:rPr>
              <a:t>Model evaluation</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n-US" sz="1900">
                <a:solidFill>
                  <a:schemeClr val="dk1"/>
                </a:solidFill>
              </a:rPr>
              <a:t>Random Forest optimization</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n-US" sz="1900">
                <a:solidFill>
                  <a:schemeClr val="dk1"/>
                </a:solidFill>
              </a:rPr>
              <a:t>Model serialization using Joblib</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efcb0ed429_0_104"/>
          <p:cNvSpPr txBox="1"/>
          <p:nvPr>
            <p:ph type="title"/>
          </p:nvPr>
        </p:nvSpPr>
        <p:spPr>
          <a:xfrm>
            <a:off x="838200" y="133525"/>
            <a:ext cx="10515600" cy="6135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2800"/>
              <a:t>Training Screenshots - </a:t>
            </a:r>
            <a:endParaRPr b="1" sz="2800"/>
          </a:p>
        </p:txBody>
      </p:sp>
      <p:sp>
        <p:nvSpPr>
          <p:cNvPr id="119" name="Google Shape;119;g3efcb0ed429_0_10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20" name="Google Shape;120;g3efcb0ed429_0_104"/>
          <p:cNvPicPr preferRelativeResize="0"/>
          <p:nvPr/>
        </p:nvPicPr>
        <p:blipFill>
          <a:blip r:embed="rId3">
            <a:alphaModFix/>
          </a:blip>
          <a:stretch>
            <a:fillRect/>
          </a:stretch>
        </p:blipFill>
        <p:spPr>
          <a:xfrm>
            <a:off x="810538" y="927150"/>
            <a:ext cx="10570924" cy="56708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efcb0ed429_0_110"/>
          <p:cNvSpPr txBox="1"/>
          <p:nvPr>
            <p:ph type="title"/>
          </p:nvPr>
        </p:nvSpPr>
        <p:spPr>
          <a:xfrm>
            <a:off x="838200" y="365125"/>
            <a:ext cx="10515600" cy="536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US" sz="2800"/>
              <a:t>Training Screenshots - </a:t>
            </a:r>
            <a:endParaRPr/>
          </a:p>
        </p:txBody>
      </p:sp>
      <p:sp>
        <p:nvSpPr>
          <p:cNvPr id="126" name="Google Shape;126;g3efcb0ed429_0_11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27" name="Google Shape;127;g3efcb0ed429_0_110"/>
          <p:cNvPicPr preferRelativeResize="0"/>
          <p:nvPr/>
        </p:nvPicPr>
        <p:blipFill>
          <a:blip r:embed="rId3">
            <a:alphaModFix/>
          </a:blip>
          <a:stretch>
            <a:fillRect/>
          </a:stretch>
        </p:blipFill>
        <p:spPr>
          <a:xfrm>
            <a:off x="838200" y="996875"/>
            <a:ext cx="10515601" cy="5385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efcb0ed429_0_117"/>
          <p:cNvSpPr txBox="1"/>
          <p:nvPr>
            <p:ph type="title"/>
          </p:nvPr>
        </p:nvSpPr>
        <p:spPr>
          <a:xfrm>
            <a:off x="838200" y="365125"/>
            <a:ext cx="10515600" cy="7035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2800"/>
              <a:t>Best Model Screenshot - </a:t>
            </a:r>
            <a:endParaRPr b="1" sz="2800"/>
          </a:p>
        </p:txBody>
      </p:sp>
      <p:sp>
        <p:nvSpPr>
          <p:cNvPr id="133" name="Google Shape;133;g3efcb0ed429_0_11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34" name="Google Shape;134;g3efcb0ed429_0_117"/>
          <p:cNvPicPr preferRelativeResize="0"/>
          <p:nvPr/>
        </p:nvPicPr>
        <p:blipFill>
          <a:blip r:embed="rId3">
            <a:alphaModFix/>
          </a:blip>
          <a:stretch>
            <a:fillRect/>
          </a:stretch>
        </p:blipFill>
        <p:spPr>
          <a:xfrm>
            <a:off x="838200" y="1180600"/>
            <a:ext cx="10515601" cy="5444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efcb0ed429_0_123"/>
          <p:cNvSpPr txBox="1"/>
          <p:nvPr>
            <p:ph type="title"/>
          </p:nvPr>
        </p:nvSpPr>
        <p:spPr>
          <a:xfrm>
            <a:off x="838200" y="365125"/>
            <a:ext cx="10515600" cy="626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2800"/>
              <a:t>Testing Screenshot - </a:t>
            </a:r>
            <a:endParaRPr b="1" sz="2800"/>
          </a:p>
        </p:txBody>
      </p:sp>
      <p:sp>
        <p:nvSpPr>
          <p:cNvPr id="140" name="Google Shape;140;g3efcb0ed429_0_123"/>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41" name="Google Shape;141;g3efcb0ed429_0_123" title="Screenshot 2026-06-29 092000.png"/>
          <p:cNvPicPr preferRelativeResize="0"/>
          <p:nvPr/>
        </p:nvPicPr>
        <p:blipFill>
          <a:blip r:embed="rId3">
            <a:alphaModFix/>
          </a:blip>
          <a:stretch>
            <a:fillRect/>
          </a:stretch>
        </p:blipFill>
        <p:spPr>
          <a:xfrm>
            <a:off x="838200" y="1185425"/>
            <a:ext cx="10515601" cy="5481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efcb0ed429_0_129"/>
          <p:cNvSpPr txBox="1"/>
          <p:nvPr>
            <p:ph type="title"/>
          </p:nvPr>
        </p:nvSpPr>
        <p:spPr>
          <a:xfrm>
            <a:off x="838200" y="365125"/>
            <a:ext cx="10515600" cy="678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US" sz="2800">
                <a:latin typeface="Arial"/>
                <a:ea typeface="Arial"/>
                <a:cs typeface="Arial"/>
                <a:sym typeface="Arial"/>
              </a:rPr>
              <a:t>Testing Screenshot - </a:t>
            </a:r>
            <a:endParaRPr>
              <a:latin typeface="Arial"/>
              <a:ea typeface="Arial"/>
              <a:cs typeface="Arial"/>
              <a:sym typeface="Arial"/>
            </a:endParaRPr>
          </a:p>
        </p:txBody>
      </p:sp>
      <p:sp>
        <p:nvSpPr>
          <p:cNvPr id="147" name="Google Shape;147;g3efcb0ed429_0_12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48" name="Google Shape;148;g3efcb0ed429_0_129" title="Screenshot 2026-07-01 181159.png"/>
          <p:cNvPicPr preferRelativeResize="0"/>
          <p:nvPr/>
        </p:nvPicPr>
        <p:blipFill>
          <a:blip r:embed="rId3">
            <a:alphaModFix/>
          </a:blip>
          <a:stretch>
            <a:fillRect/>
          </a:stretch>
        </p:blipFill>
        <p:spPr>
          <a:xfrm>
            <a:off x="838200" y="1043125"/>
            <a:ext cx="10515601" cy="54820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fcb0ed429_0_13"/>
          <p:cNvSpPr txBox="1"/>
          <p:nvPr>
            <p:ph type="title"/>
          </p:nvPr>
        </p:nvSpPr>
        <p:spPr>
          <a:xfrm>
            <a:off x="838200" y="365125"/>
            <a:ext cx="10515600" cy="549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SzPts val="990"/>
              <a:buNone/>
            </a:pPr>
            <a:r>
              <a:rPr b="1" lang="en-US" sz="2820">
                <a:latin typeface="Arial"/>
                <a:ea typeface="Arial"/>
                <a:cs typeface="Arial"/>
                <a:sym typeface="Arial"/>
              </a:rPr>
              <a:t>IBM watsonx.ai Project - </a:t>
            </a:r>
            <a:r>
              <a:rPr lang="en-US" sz="2020">
                <a:latin typeface="Arial"/>
                <a:ea typeface="Arial"/>
                <a:cs typeface="Arial"/>
                <a:sym typeface="Arial"/>
              </a:rPr>
              <a:t>Project overview showing the IBM watsonx.ai environment used to build and manage the Smart Farming AI solution.</a:t>
            </a:r>
            <a:r>
              <a:rPr lang="en-US" sz="2820">
                <a:latin typeface="Arial"/>
                <a:ea typeface="Arial"/>
                <a:cs typeface="Arial"/>
                <a:sym typeface="Arial"/>
              </a:rPr>
              <a:t> </a:t>
            </a:r>
            <a:endParaRPr sz="2820">
              <a:latin typeface="Arial"/>
              <a:ea typeface="Arial"/>
              <a:cs typeface="Arial"/>
              <a:sym typeface="Arial"/>
            </a:endParaRPr>
          </a:p>
        </p:txBody>
      </p:sp>
      <p:sp>
        <p:nvSpPr>
          <p:cNvPr id="154" name="Google Shape;154;g3efcb0ed429_0_13"/>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55" name="Google Shape;155;g3efcb0ed429_0_13" title="Screenshot 2026-06-29 080741.png"/>
          <p:cNvPicPr preferRelativeResize="0"/>
          <p:nvPr/>
        </p:nvPicPr>
        <p:blipFill>
          <a:blip r:embed="rId3">
            <a:alphaModFix/>
          </a:blip>
          <a:stretch>
            <a:fillRect/>
          </a:stretch>
        </p:blipFill>
        <p:spPr>
          <a:xfrm>
            <a:off x="838200" y="1042975"/>
            <a:ext cx="10515601" cy="5468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efcb0ed429_0_20"/>
          <p:cNvSpPr txBox="1"/>
          <p:nvPr>
            <p:ph type="title"/>
          </p:nvPr>
        </p:nvSpPr>
        <p:spPr>
          <a:xfrm>
            <a:off x="838200" y="270950"/>
            <a:ext cx="10515600" cy="9318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990"/>
              <a:buFont typeface="Arial"/>
              <a:buNone/>
            </a:pPr>
            <a:r>
              <a:rPr b="1" lang="en-US" sz="2820">
                <a:latin typeface="Arial"/>
                <a:ea typeface="Arial"/>
                <a:cs typeface="Arial"/>
                <a:sym typeface="Arial"/>
              </a:rPr>
              <a:t>SmartFarmingVectorIndex Created with 32 Agricultural Documents - </a:t>
            </a:r>
            <a:r>
              <a:rPr lang="en-US" sz="2020">
                <a:latin typeface="Arial"/>
                <a:ea typeface="Arial"/>
                <a:cs typeface="Arial"/>
                <a:sym typeface="Arial"/>
              </a:rPr>
              <a:t>A vector index was created using 32 curated agricultural documents covering crops, soil, fertilizers, irrigation, pests, diseases, and government schemes.</a:t>
            </a:r>
            <a:endParaRPr sz="2020">
              <a:latin typeface="Arial"/>
              <a:ea typeface="Arial"/>
              <a:cs typeface="Arial"/>
              <a:sym typeface="Arial"/>
            </a:endParaRPr>
          </a:p>
        </p:txBody>
      </p:sp>
      <p:sp>
        <p:nvSpPr>
          <p:cNvPr id="161" name="Google Shape;161;g3efcb0ed429_0_2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62" name="Google Shape;162;g3efcb0ed429_0_20" title="Screenshot 2026-06-29 081155.png"/>
          <p:cNvPicPr preferRelativeResize="0"/>
          <p:nvPr/>
        </p:nvPicPr>
        <p:blipFill>
          <a:blip r:embed="rId3">
            <a:alphaModFix/>
          </a:blip>
          <a:stretch>
            <a:fillRect/>
          </a:stretch>
        </p:blipFill>
        <p:spPr>
          <a:xfrm>
            <a:off x="838200" y="1372425"/>
            <a:ext cx="10515601" cy="53623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efcb0ed429_0_26"/>
          <p:cNvSpPr txBox="1"/>
          <p:nvPr>
            <p:ph type="title"/>
          </p:nvPr>
        </p:nvSpPr>
        <p:spPr>
          <a:xfrm>
            <a:off x="838200" y="365125"/>
            <a:ext cx="10515600" cy="5619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b="1" lang="en-US" sz="2800">
                <a:latin typeface="Arial"/>
                <a:ea typeface="Arial"/>
                <a:cs typeface="Arial"/>
                <a:sym typeface="Arial"/>
              </a:rPr>
              <a:t>SmartFarmingVectorIndex Configuration and Knowledge Base - </a:t>
            </a:r>
            <a:r>
              <a:rPr lang="en-US" sz="2000">
                <a:latin typeface="Arial"/>
                <a:ea typeface="Arial"/>
                <a:cs typeface="Arial"/>
                <a:sym typeface="Arial"/>
              </a:rPr>
              <a:t>Vector index configuration showing the embedding model, chunking settings, and knowledge base details.</a:t>
            </a:r>
            <a:endParaRPr sz="2000">
              <a:latin typeface="Arial"/>
              <a:ea typeface="Arial"/>
              <a:cs typeface="Arial"/>
              <a:sym typeface="Arial"/>
            </a:endParaRPr>
          </a:p>
        </p:txBody>
      </p:sp>
      <p:sp>
        <p:nvSpPr>
          <p:cNvPr id="168" name="Google Shape;168;g3efcb0ed429_0_2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69" name="Google Shape;169;g3efcb0ed429_0_26" title="Screenshot 2026-06-29 081400.png"/>
          <p:cNvPicPr preferRelativeResize="0"/>
          <p:nvPr/>
        </p:nvPicPr>
        <p:blipFill>
          <a:blip r:embed="rId3">
            <a:alphaModFix/>
          </a:blip>
          <a:stretch>
            <a:fillRect/>
          </a:stretch>
        </p:blipFill>
        <p:spPr>
          <a:xfrm>
            <a:off x="838200" y="1030100"/>
            <a:ext cx="10515601" cy="55708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efcb0ed429_0_32"/>
          <p:cNvSpPr txBox="1"/>
          <p:nvPr>
            <p:ph type="title"/>
          </p:nvPr>
        </p:nvSpPr>
        <p:spPr>
          <a:xfrm>
            <a:off x="838200" y="365125"/>
            <a:ext cx="10515600" cy="6651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b="1" lang="en-US" sz="2800">
                <a:latin typeface="Arial"/>
                <a:ea typeface="Arial"/>
                <a:cs typeface="Arial"/>
                <a:sym typeface="Arial"/>
              </a:rPr>
              <a:t>Testing the Knowledge Base in IBM Prompt Lab - </a:t>
            </a:r>
            <a:r>
              <a:rPr lang="en-US" sz="2000">
                <a:latin typeface="Arial"/>
                <a:ea typeface="Arial"/>
                <a:cs typeface="Arial"/>
                <a:sym typeface="Arial"/>
              </a:rPr>
              <a:t>A sample agricultural query was submitted through Prompt Lab with document grounding enabled. </a:t>
            </a:r>
            <a:endParaRPr sz="2000">
              <a:latin typeface="Arial"/>
              <a:ea typeface="Arial"/>
              <a:cs typeface="Arial"/>
              <a:sym typeface="Arial"/>
            </a:endParaRPr>
          </a:p>
        </p:txBody>
      </p:sp>
      <p:sp>
        <p:nvSpPr>
          <p:cNvPr id="175" name="Google Shape;175;g3efcb0ed429_0_3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76" name="Google Shape;176;g3efcb0ed429_0_32" title="Screenshot 2026-06-29 081635.png"/>
          <p:cNvPicPr preferRelativeResize="0"/>
          <p:nvPr/>
        </p:nvPicPr>
        <p:blipFill>
          <a:blip r:embed="rId3">
            <a:alphaModFix/>
          </a:blip>
          <a:stretch>
            <a:fillRect/>
          </a:stretch>
        </p:blipFill>
        <p:spPr>
          <a:xfrm>
            <a:off x="838200" y="1261700"/>
            <a:ext cx="10515601" cy="5288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efcb0ed429_0_38"/>
          <p:cNvSpPr txBox="1"/>
          <p:nvPr>
            <p:ph type="title"/>
          </p:nvPr>
        </p:nvSpPr>
        <p:spPr>
          <a:xfrm>
            <a:off x="838200" y="365125"/>
            <a:ext cx="10515600" cy="5364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b="1" lang="en-US" sz="2800">
                <a:latin typeface="Arial"/>
                <a:ea typeface="Arial"/>
                <a:cs typeface="Arial"/>
                <a:sym typeface="Arial"/>
              </a:rPr>
              <a:t>Grounded Response Generated Using SmartFarmingVectorIndex - </a:t>
            </a:r>
            <a:r>
              <a:rPr lang="en-US" sz="2000">
                <a:latin typeface="Arial"/>
                <a:ea typeface="Arial"/>
                <a:cs typeface="Arial"/>
                <a:sym typeface="Arial"/>
              </a:rPr>
              <a:t>IBM watsonx.ai generated an answer using the uploaded agricultural documents, with the source document cited in the response.</a:t>
            </a:r>
            <a:r>
              <a:rPr b="1" lang="en-US" sz="2800"/>
              <a:t> </a:t>
            </a:r>
            <a:endParaRPr b="1" sz="2800"/>
          </a:p>
        </p:txBody>
      </p:sp>
      <p:sp>
        <p:nvSpPr>
          <p:cNvPr id="182" name="Google Shape;182;g3efcb0ed429_0_3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83" name="Google Shape;183;g3efcb0ed429_0_38" title="Screenshot 2026-06-29 082117.png"/>
          <p:cNvPicPr preferRelativeResize="0"/>
          <p:nvPr/>
        </p:nvPicPr>
        <p:blipFill>
          <a:blip r:embed="rId3">
            <a:alphaModFix/>
          </a:blip>
          <a:stretch>
            <a:fillRect/>
          </a:stretch>
        </p:blipFill>
        <p:spPr>
          <a:xfrm>
            <a:off x="838200" y="1107300"/>
            <a:ext cx="10515601" cy="54812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fcb0ed429_0_62"/>
          <p:cNvSpPr txBox="1"/>
          <p:nvPr>
            <p:ph type="title"/>
          </p:nvPr>
        </p:nvSpPr>
        <p:spPr>
          <a:xfrm>
            <a:off x="838200" y="365125"/>
            <a:ext cx="10515600" cy="729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2800">
                <a:latin typeface="Arial"/>
                <a:ea typeface="Arial"/>
                <a:cs typeface="Arial"/>
                <a:sym typeface="Arial"/>
              </a:rPr>
              <a:t>Training Process - </a:t>
            </a:r>
            <a:endParaRPr b="1" sz="2800">
              <a:latin typeface="Arial"/>
              <a:ea typeface="Arial"/>
              <a:cs typeface="Arial"/>
              <a:sym typeface="Arial"/>
            </a:endParaRPr>
          </a:p>
        </p:txBody>
      </p:sp>
      <p:sp>
        <p:nvSpPr>
          <p:cNvPr id="189" name="Google Shape;189;g3efcb0ed429_0_6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Arial"/>
                <a:ea typeface="Arial"/>
                <a:cs typeface="Arial"/>
                <a:sym typeface="Arial"/>
              </a:rPr>
              <a:t>The crop recommendation model was developed using the Crop Recommendation Dataset containing soil nutrients (Nitrogen, Phosphorus, Potassium) and environmental parameters such as temperature, humidity, pH, and rainfall.</a:t>
            </a:r>
            <a:endParaRPr sz="20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2000">
                <a:latin typeface="Arial"/>
                <a:ea typeface="Arial"/>
                <a:cs typeface="Arial"/>
                <a:sym typeface="Arial"/>
              </a:rPr>
              <a:t>The dataset was preprocessed and divided into training and testing sets. A Random Forest Classifier was trained using Scikit-learn and evaluated for prediction accuracy. The trained model achieved an accuracy of </a:t>
            </a:r>
            <a:r>
              <a:rPr b="1" lang="en-US" sz="2000">
                <a:latin typeface="Arial"/>
                <a:ea typeface="Arial"/>
                <a:cs typeface="Arial"/>
                <a:sym typeface="Arial"/>
              </a:rPr>
              <a:t>99.55%</a:t>
            </a:r>
            <a:r>
              <a:rPr lang="en-US" sz="2000">
                <a:latin typeface="Arial"/>
                <a:ea typeface="Arial"/>
                <a:cs typeface="Arial"/>
                <a:sym typeface="Arial"/>
              </a:rPr>
              <a:t> and was saved as </a:t>
            </a:r>
            <a:r>
              <a:rPr b="1" lang="en-US" sz="2000">
                <a:latin typeface="Arial"/>
                <a:ea typeface="Arial"/>
                <a:cs typeface="Arial"/>
                <a:sym typeface="Arial"/>
              </a:rPr>
              <a:t>model.pkl</a:t>
            </a:r>
            <a:r>
              <a:rPr lang="en-US" sz="2000">
                <a:latin typeface="Arial"/>
                <a:ea typeface="Arial"/>
                <a:cs typeface="Arial"/>
                <a:sym typeface="Arial"/>
              </a:rPr>
              <a:t> using Joblib for integration into the Streamlit application.</a:t>
            </a:r>
            <a:endParaRPr sz="2000">
              <a:latin typeface="Arial"/>
              <a:ea typeface="Arial"/>
              <a:cs typeface="Arial"/>
              <a:sym typeface="Arial"/>
            </a:endParaRPr>
          </a:p>
          <a:p>
            <a:pPr indent="0" lvl="0" marL="0" rtl="0" algn="l">
              <a:lnSpc>
                <a:spcPct val="115000"/>
              </a:lnSpc>
              <a:spcBef>
                <a:spcPts val="1200"/>
              </a:spcBef>
              <a:spcAft>
                <a:spcPts val="1200"/>
              </a:spcAft>
              <a:buNone/>
            </a:pPr>
            <a:r>
              <a:rPr lang="en-US" sz="2000">
                <a:latin typeface="Arial"/>
                <a:ea typeface="Arial"/>
                <a:cs typeface="Arial"/>
                <a:sym typeface="Arial"/>
              </a:rPr>
              <a:t>The detailed implementation, dataset, and training results are shown in the following slides.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efcb0ed429_0_68"/>
          <p:cNvSpPr txBox="1"/>
          <p:nvPr>
            <p:ph type="title"/>
          </p:nvPr>
        </p:nvSpPr>
        <p:spPr>
          <a:xfrm>
            <a:off x="838200" y="0"/>
            <a:ext cx="10515600" cy="8112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Training Dataset - </a:t>
            </a:r>
            <a:r>
              <a:rPr lang="en-US" sz="2000">
                <a:latin typeface="Arial"/>
                <a:ea typeface="Arial"/>
                <a:cs typeface="Arial"/>
                <a:sym typeface="Arial"/>
              </a:rPr>
              <a:t>The dataset consists of agricultural and environmental features with crop labels, forming the basis for training and evaluating the crop recommendation.model </a:t>
            </a:r>
            <a:endParaRPr sz="2000">
              <a:latin typeface="Arial"/>
              <a:ea typeface="Arial"/>
              <a:cs typeface="Arial"/>
              <a:sym typeface="Arial"/>
            </a:endParaRPr>
          </a:p>
        </p:txBody>
      </p:sp>
      <p:sp>
        <p:nvSpPr>
          <p:cNvPr id="195" name="Google Shape;195;g3efcb0ed429_0_6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96" name="Google Shape;196;g3efcb0ed429_0_68" title="Screenshot 2026-06-29 084201.png"/>
          <p:cNvPicPr preferRelativeResize="0"/>
          <p:nvPr/>
        </p:nvPicPr>
        <p:blipFill>
          <a:blip r:embed="rId3">
            <a:alphaModFix/>
          </a:blip>
          <a:stretch>
            <a:fillRect/>
          </a:stretch>
        </p:blipFill>
        <p:spPr>
          <a:xfrm>
            <a:off x="838200" y="865950"/>
            <a:ext cx="10515601" cy="56408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efcb0ed429_0_8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2800">
                <a:latin typeface="Arial"/>
                <a:ea typeface="Arial"/>
                <a:cs typeface="Arial"/>
                <a:sym typeface="Arial"/>
              </a:rPr>
              <a:t>Choosing the Best Model - </a:t>
            </a:r>
            <a:endParaRPr b="1" sz="2800">
              <a:latin typeface="Arial"/>
              <a:ea typeface="Arial"/>
              <a:cs typeface="Arial"/>
              <a:sym typeface="Arial"/>
            </a:endParaRPr>
          </a:p>
        </p:txBody>
      </p:sp>
      <p:sp>
        <p:nvSpPr>
          <p:cNvPr id="202" name="Google Shape;202;g3efcb0ed429_0_8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10000"/>
          </a:bodyPr>
          <a:lstStyle/>
          <a:p>
            <a:pPr indent="0" lvl="0" marL="0" rtl="0" algn="l">
              <a:lnSpc>
                <a:spcPct val="115000"/>
              </a:lnSpc>
              <a:spcBef>
                <a:spcPts val="1200"/>
              </a:spcBef>
              <a:spcAft>
                <a:spcPts val="0"/>
              </a:spcAft>
              <a:buClr>
                <a:schemeClr val="dk1"/>
              </a:buClr>
              <a:buSzPts val="1100"/>
              <a:buFont typeface="Arial"/>
              <a:buNone/>
            </a:pPr>
            <a:r>
              <a:rPr lang="en-US" sz="2000">
                <a:latin typeface="Arial"/>
                <a:ea typeface="Arial"/>
                <a:cs typeface="Arial"/>
                <a:sym typeface="Arial"/>
              </a:rPr>
              <a:t>The Crop Recommendation Dataset was evaluated using machine learning techniques to identify the most suitable algorithm for accurate crop prediction. Among the models tested, the </a:t>
            </a:r>
            <a:r>
              <a:rPr b="1" lang="en-US" sz="2000">
                <a:latin typeface="Arial"/>
                <a:ea typeface="Arial"/>
                <a:cs typeface="Arial"/>
                <a:sym typeface="Arial"/>
              </a:rPr>
              <a:t>Random Forest Classifier</a:t>
            </a:r>
            <a:r>
              <a:rPr lang="en-US" sz="2000">
                <a:latin typeface="Arial"/>
                <a:ea typeface="Arial"/>
                <a:cs typeface="Arial"/>
                <a:sym typeface="Arial"/>
              </a:rPr>
              <a:t> delivered the best performance with an accuracy of </a:t>
            </a:r>
            <a:r>
              <a:rPr b="1" lang="en-US" sz="2000">
                <a:latin typeface="Arial"/>
                <a:ea typeface="Arial"/>
                <a:cs typeface="Arial"/>
                <a:sym typeface="Arial"/>
              </a:rPr>
              <a:t>99.55%</a:t>
            </a:r>
            <a:r>
              <a:rPr lang="en-US" sz="2000">
                <a:latin typeface="Arial"/>
                <a:ea typeface="Arial"/>
                <a:cs typeface="Arial"/>
                <a:sym typeface="Arial"/>
              </a:rPr>
              <a:t>.</a:t>
            </a:r>
            <a:endParaRPr sz="20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2000">
                <a:latin typeface="Arial"/>
                <a:ea typeface="Arial"/>
                <a:cs typeface="Arial"/>
                <a:sym typeface="Arial"/>
              </a:rPr>
              <a:t>The model effectively learned the relationship between soil nutrients (Nitrogen, Phosphorus, Potassium) and environmental parameters (temperature, humidity, pH, and rainfall) to recommend the most suitable crop. Owing to its high accuracy, robustness, and ability to generalize well on unseen data, the Random Forest model was selected as the final prediction model.</a:t>
            </a:r>
            <a:endParaRPr sz="20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2000">
                <a:latin typeface="Arial"/>
                <a:ea typeface="Arial"/>
                <a:cs typeface="Arial"/>
                <a:sym typeface="Arial"/>
              </a:rPr>
              <a:t>The trained model was then saved as </a:t>
            </a:r>
            <a:r>
              <a:rPr b="1" lang="en-US" sz="2000">
                <a:latin typeface="Arial"/>
                <a:ea typeface="Arial"/>
                <a:cs typeface="Arial"/>
                <a:sym typeface="Arial"/>
              </a:rPr>
              <a:t>model.pkl</a:t>
            </a:r>
            <a:r>
              <a:rPr lang="en-US" sz="2000">
                <a:latin typeface="Arial"/>
                <a:ea typeface="Arial"/>
                <a:cs typeface="Arial"/>
                <a:sym typeface="Arial"/>
              </a:rPr>
              <a:t> using the Joblib library and integrated into the Streamlit-based Smart Farming AI application for real-time crop prediction.</a:t>
            </a:r>
            <a:endParaRPr sz="20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efcb0ed429_0_75"/>
          <p:cNvSpPr txBox="1"/>
          <p:nvPr>
            <p:ph type="title"/>
          </p:nvPr>
        </p:nvSpPr>
        <p:spPr>
          <a:xfrm>
            <a:off x="838200" y="365125"/>
            <a:ext cx="10515600" cy="7293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b="1" lang="en-US" sz="2800">
                <a:latin typeface="Arial"/>
                <a:ea typeface="Arial"/>
                <a:cs typeface="Arial"/>
                <a:sym typeface="Arial"/>
              </a:rPr>
              <a:t>Random Forest Model Training Results - </a:t>
            </a:r>
            <a:r>
              <a:rPr lang="en-US" sz="2000">
                <a:latin typeface="Arial"/>
                <a:ea typeface="Arial"/>
                <a:cs typeface="Arial"/>
                <a:sym typeface="Arial"/>
              </a:rPr>
              <a:t>The Random Forest Classifier achieved an accuracy of 99.55% during model evaluation. The trained model was successfully saved as model.pkl for integration into the Smart Farming AI application.</a:t>
            </a:r>
            <a:endParaRPr sz="2000">
              <a:latin typeface="Arial"/>
              <a:ea typeface="Arial"/>
              <a:cs typeface="Arial"/>
              <a:sym typeface="Arial"/>
            </a:endParaRPr>
          </a:p>
        </p:txBody>
      </p:sp>
      <p:sp>
        <p:nvSpPr>
          <p:cNvPr id="208" name="Google Shape;208;g3efcb0ed429_0_7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09" name="Google Shape;209;g3efcb0ed429_0_75" title="Screenshot 2026-07-01 183249.png"/>
          <p:cNvPicPr preferRelativeResize="0"/>
          <p:nvPr/>
        </p:nvPicPr>
        <p:blipFill>
          <a:blip r:embed="rId3">
            <a:alphaModFix/>
          </a:blip>
          <a:stretch>
            <a:fillRect/>
          </a:stretch>
        </p:blipFill>
        <p:spPr>
          <a:xfrm>
            <a:off x="838200" y="1202750"/>
            <a:ext cx="10515601" cy="5302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efcb0ed429_0_90"/>
          <p:cNvSpPr txBox="1"/>
          <p:nvPr>
            <p:ph type="title"/>
          </p:nvPr>
        </p:nvSpPr>
        <p:spPr>
          <a:xfrm>
            <a:off x="838200" y="365125"/>
            <a:ext cx="10515600" cy="6264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b="1" lang="en-US" sz="2800">
                <a:latin typeface="Arial"/>
                <a:ea typeface="Arial"/>
                <a:cs typeface="Arial"/>
                <a:sym typeface="Arial"/>
              </a:rPr>
              <a:t>Trained Machine Learning Model (model.pkl) - </a:t>
            </a:r>
            <a:r>
              <a:rPr lang="en-US" sz="2200">
                <a:latin typeface="Arial"/>
                <a:ea typeface="Arial"/>
                <a:cs typeface="Arial"/>
                <a:sym typeface="Arial"/>
              </a:rPr>
              <a:t>The trained Random Forest model was successfully saved as </a:t>
            </a:r>
            <a:r>
              <a:rPr lang="en-US" sz="2200">
                <a:latin typeface="Roboto Mono"/>
                <a:ea typeface="Roboto Mono"/>
                <a:cs typeface="Roboto Mono"/>
                <a:sym typeface="Roboto Mono"/>
              </a:rPr>
              <a:t>model.pkl</a:t>
            </a:r>
            <a:r>
              <a:rPr lang="en-US" sz="2200">
                <a:latin typeface="Arial"/>
                <a:ea typeface="Arial"/>
                <a:cs typeface="Arial"/>
                <a:sym typeface="Arial"/>
              </a:rPr>
              <a:t> using the Joblib library. This serialized model is loaded by the Streamlit application to perform real-time crop prediction based on user-provided soil and environmental parameters. </a:t>
            </a:r>
            <a:endParaRPr sz="2200">
              <a:latin typeface="Arial"/>
              <a:ea typeface="Arial"/>
              <a:cs typeface="Arial"/>
              <a:sym typeface="Arial"/>
            </a:endParaRPr>
          </a:p>
        </p:txBody>
      </p:sp>
      <p:sp>
        <p:nvSpPr>
          <p:cNvPr id="215" name="Google Shape;215;g3efcb0ed429_0_9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16" name="Google Shape;216;g3efcb0ed429_0_90" title="Screenshot 2026-07-01 183316.png"/>
          <p:cNvPicPr preferRelativeResize="0"/>
          <p:nvPr/>
        </p:nvPicPr>
        <p:blipFill>
          <a:blip r:embed="rId3">
            <a:alphaModFix/>
          </a:blip>
          <a:stretch>
            <a:fillRect/>
          </a:stretch>
        </p:blipFill>
        <p:spPr>
          <a:xfrm>
            <a:off x="838200" y="1358300"/>
            <a:ext cx="10515601" cy="51611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efcb0ed429_0_9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2800">
                <a:latin typeface="Arial"/>
                <a:ea typeface="Arial"/>
                <a:cs typeface="Arial"/>
                <a:sym typeface="Arial"/>
              </a:rPr>
              <a:t>Application Testing - </a:t>
            </a:r>
            <a:endParaRPr b="1" sz="2800">
              <a:latin typeface="Arial"/>
              <a:ea typeface="Arial"/>
              <a:cs typeface="Arial"/>
              <a:sym typeface="Arial"/>
            </a:endParaRPr>
          </a:p>
        </p:txBody>
      </p:sp>
      <p:sp>
        <p:nvSpPr>
          <p:cNvPr id="222" name="Google Shape;222;g3efcb0ed429_0_9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10000"/>
          </a:bodyPr>
          <a:lstStyle/>
          <a:p>
            <a:pPr indent="0" lvl="0" marL="0" rtl="0" algn="l">
              <a:lnSpc>
                <a:spcPct val="115000"/>
              </a:lnSpc>
              <a:spcBef>
                <a:spcPts val="1200"/>
              </a:spcBef>
              <a:spcAft>
                <a:spcPts val="0"/>
              </a:spcAft>
              <a:buClr>
                <a:schemeClr val="dk1"/>
              </a:buClr>
              <a:buSzPts val="1100"/>
              <a:buFont typeface="Arial"/>
              <a:buNone/>
            </a:pPr>
            <a:r>
              <a:rPr lang="en-US" sz="2000">
                <a:latin typeface="Arial"/>
                <a:ea typeface="Arial"/>
                <a:cs typeface="Arial"/>
                <a:sym typeface="Arial"/>
              </a:rPr>
              <a:t>The developed Smart Farming AI application was tested using different combinations of soil nutrients and environmental parameters to validate the performance of the trained Random Forest model. The application successfully predicted the most suitable crop based on the input values and displayed the recommendation through an interactive Streamlit interface.</a:t>
            </a:r>
            <a:endParaRPr sz="20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2000">
                <a:latin typeface="Arial"/>
                <a:ea typeface="Arial"/>
                <a:cs typeface="Arial"/>
                <a:sym typeface="Arial"/>
              </a:rPr>
              <a:t>After generating the crop prediction, the application uses </a:t>
            </a:r>
            <a:r>
              <a:rPr b="1" lang="en-US" sz="2000">
                <a:latin typeface="Arial"/>
                <a:ea typeface="Arial"/>
                <a:cs typeface="Arial"/>
                <a:sym typeface="Arial"/>
              </a:rPr>
              <a:t>IBM watsonx.ai (Meta Llama 3.3 70B Instruct)</a:t>
            </a:r>
            <a:r>
              <a:rPr lang="en-US" sz="2000">
                <a:latin typeface="Arial"/>
                <a:ea typeface="Arial"/>
                <a:cs typeface="Arial"/>
                <a:sym typeface="Arial"/>
              </a:rPr>
              <a:t> to provide a comprehensive farming guide. The AI-generated response includes recommendations on suitable soil, fertilizer usage, irrigation practices, disease management, pest control, and relevant government schemes for the predicted crop.</a:t>
            </a:r>
            <a:endParaRPr sz="20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2000">
                <a:latin typeface="Arial"/>
                <a:ea typeface="Arial"/>
                <a:cs typeface="Arial"/>
                <a:sym typeface="Arial"/>
              </a:rPr>
              <a:t>The following slides present screenshots of the application interface, crop prediction results, and AI-generated farming guidance.</a:t>
            </a:r>
            <a:endParaRPr sz="20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efcb0ed429_0_135"/>
          <p:cNvSpPr txBox="1"/>
          <p:nvPr>
            <p:ph type="title"/>
          </p:nvPr>
        </p:nvSpPr>
        <p:spPr>
          <a:xfrm>
            <a:off x="838200" y="365125"/>
            <a:ext cx="10515600" cy="6651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2800"/>
              <a:t>Crop Prediction Result - </a:t>
            </a:r>
            <a:endParaRPr b="1" sz="2800"/>
          </a:p>
        </p:txBody>
      </p:sp>
      <p:sp>
        <p:nvSpPr>
          <p:cNvPr id="228" name="Google Shape;228;g3efcb0ed429_0_13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29" name="Google Shape;229;g3efcb0ed429_0_135"/>
          <p:cNvPicPr preferRelativeResize="0"/>
          <p:nvPr/>
        </p:nvPicPr>
        <p:blipFill>
          <a:blip r:embed="rId3">
            <a:alphaModFix/>
          </a:blip>
          <a:stretch>
            <a:fillRect/>
          </a:stretch>
        </p:blipFill>
        <p:spPr>
          <a:xfrm>
            <a:off x="838200" y="1158775"/>
            <a:ext cx="10515601" cy="52917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efcb0ed429_0_141"/>
          <p:cNvSpPr txBox="1"/>
          <p:nvPr>
            <p:ph type="title"/>
          </p:nvPr>
        </p:nvSpPr>
        <p:spPr>
          <a:xfrm>
            <a:off x="838200" y="365125"/>
            <a:ext cx="10515600" cy="561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US" sz="2800"/>
              <a:t>Crop Prediction Result - </a:t>
            </a:r>
            <a:endParaRPr/>
          </a:p>
        </p:txBody>
      </p:sp>
      <p:sp>
        <p:nvSpPr>
          <p:cNvPr id="235" name="Google Shape;235;g3efcb0ed429_0_14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36" name="Google Shape;236;g3efcb0ed429_0_141"/>
          <p:cNvPicPr preferRelativeResize="0"/>
          <p:nvPr/>
        </p:nvPicPr>
        <p:blipFill>
          <a:blip r:embed="rId3">
            <a:alphaModFix/>
          </a:blip>
          <a:stretch>
            <a:fillRect/>
          </a:stretch>
        </p:blipFill>
        <p:spPr>
          <a:xfrm>
            <a:off x="838200" y="1133025"/>
            <a:ext cx="10515601" cy="52976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0"/>
          <p:cNvSpPr txBox="1"/>
          <p:nvPr/>
        </p:nvSpPr>
        <p:spPr>
          <a:xfrm>
            <a:off x="777240" y="484632"/>
            <a:ext cx="7123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Novelty and Uniqueness</a:t>
            </a:r>
            <a:endParaRPr b="1" i="0" sz="2800" u="none" cap="none" strike="noStrike">
              <a:solidFill>
                <a:srgbClr val="000000"/>
              </a:solidFill>
              <a:latin typeface="Arial"/>
              <a:ea typeface="Arial"/>
              <a:cs typeface="Arial"/>
              <a:sym typeface="Arial"/>
            </a:endParaRPr>
          </a:p>
        </p:txBody>
      </p:sp>
      <p:sp>
        <p:nvSpPr>
          <p:cNvPr id="242" name="Google Shape;242;p40"/>
          <p:cNvSpPr txBox="1"/>
          <p:nvPr/>
        </p:nvSpPr>
        <p:spPr>
          <a:xfrm>
            <a:off x="536850" y="930500"/>
            <a:ext cx="10769700" cy="519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sz="2000"/>
          </a:p>
          <a:p>
            <a:pPr indent="0" lvl="0" marL="0" rtl="0" algn="l">
              <a:lnSpc>
                <a:spcPct val="115000"/>
              </a:lnSpc>
              <a:spcBef>
                <a:spcPts val="1200"/>
              </a:spcBef>
              <a:spcAft>
                <a:spcPts val="0"/>
              </a:spcAft>
              <a:buClr>
                <a:schemeClr val="dk1"/>
              </a:buClr>
              <a:buSzPts val="1100"/>
              <a:buFont typeface="Arial"/>
              <a:buNone/>
            </a:pPr>
            <a:r>
              <a:rPr lang="en-US" sz="1900">
                <a:solidFill>
                  <a:schemeClr val="dk1"/>
                </a:solidFill>
              </a:rPr>
              <a:t>The </a:t>
            </a:r>
            <a:r>
              <a:rPr b="1" lang="en-US" sz="1900">
                <a:solidFill>
                  <a:schemeClr val="dk1"/>
                </a:solidFill>
              </a:rPr>
              <a:t>Smart Farming AI Agent</a:t>
            </a:r>
            <a:r>
              <a:rPr lang="en-US" sz="1900">
                <a:solidFill>
                  <a:schemeClr val="dk1"/>
                </a:solidFill>
              </a:rPr>
              <a:t> combines traditional Machine Learning with Generative AI to provide intelligent, data-driven agricultural assistance. Unlike conventional crop recommendation systems that only predict a suitable crop, this solution extends its capabilities by generating comprehensive farming guidance using </a:t>
            </a:r>
            <a:r>
              <a:rPr b="1" lang="en-US" sz="1900">
                <a:solidFill>
                  <a:schemeClr val="dk1"/>
                </a:solidFill>
              </a:rPr>
              <a:t>IBM watsonx.ai (Meta Llama 3.3 70B Instruct)</a:t>
            </a:r>
            <a:r>
              <a:rPr lang="en-US" sz="1900">
                <a:solidFill>
                  <a:schemeClr val="dk1"/>
                </a:solidFill>
              </a:rPr>
              <a:t>.</a:t>
            </a:r>
            <a:endParaRPr sz="1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900">
                <a:solidFill>
                  <a:schemeClr val="dk1"/>
                </a:solidFill>
              </a:rPr>
              <a:t>The application first analyzes soil nutrients and environmental conditions using a </a:t>
            </a:r>
            <a:r>
              <a:rPr b="1" lang="en-US" sz="1900">
                <a:solidFill>
                  <a:schemeClr val="dk1"/>
                </a:solidFill>
              </a:rPr>
              <a:t>Random Forest Classifier</a:t>
            </a:r>
            <a:r>
              <a:rPr lang="en-US" sz="1900">
                <a:solidFill>
                  <a:schemeClr val="dk1"/>
                </a:solidFill>
              </a:rPr>
              <a:t> with an accuracy of </a:t>
            </a:r>
            <a:r>
              <a:rPr b="1" lang="en-US" sz="1900">
                <a:solidFill>
                  <a:schemeClr val="dk1"/>
                </a:solidFill>
              </a:rPr>
              <a:t>99.55%</a:t>
            </a:r>
            <a:r>
              <a:rPr lang="en-US" sz="1900">
                <a:solidFill>
                  <a:schemeClr val="dk1"/>
                </a:solidFill>
              </a:rPr>
              <a:t> to recommend the most suitable crop. It then leverages IBM watsonx.ai to generate practical recommendations covering suitable soil, fertilizer usage, irrigation methods, disease management, pest control, and relevant government schemes.</a:t>
            </a:r>
            <a:endParaRPr sz="1900">
              <a:solidFill>
                <a:schemeClr val="dk1"/>
              </a:solidFill>
            </a:endParaRPr>
          </a:p>
          <a:p>
            <a:pPr indent="0" lvl="0" marL="0" rtl="0" algn="l">
              <a:lnSpc>
                <a:spcPct val="115000"/>
              </a:lnSpc>
              <a:spcBef>
                <a:spcPts val="1200"/>
              </a:spcBef>
              <a:spcAft>
                <a:spcPts val="1200"/>
              </a:spcAft>
              <a:buSzPts val="1100"/>
              <a:buNone/>
            </a:pPr>
            <a:r>
              <a:rPr lang="en-US" sz="1900">
                <a:solidFill>
                  <a:schemeClr val="dk1"/>
                </a:solidFill>
              </a:rPr>
              <a:t>The system provides farmers with an easy-to-use Streamlit interface that delivers personalized agricultural guidance in a single platform. By combining predictive analytics with AI-powered advisory services, the project supports informed decision-making, improves farming productivity, and demonstrates the effective use of IBM Cloud Lite services and IBM watsonx.ai in smart agriculture.</a:t>
            </a:r>
            <a:endParaRPr b="1" sz="18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1"/>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800" u="none" cap="none" strike="noStrike">
                <a:solidFill>
                  <a:srgbClr val="000000"/>
                </a:solidFill>
                <a:latin typeface="Arial"/>
                <a:ea typeface="Arial"/>
                <a:cs typeface="Arial"/>
                <a:sym typeface="Arial"/>
              </a:rPr>
              <a:t>Git</a:t>
            </a:r>
            <a:r>
              <a:rPr b="1" lang="en-US" sz="2800"/>
              <a:t> </a:t>
            </a:r>
            <a:r>
              <a:rPr b="1" i="0" lang="en-US" sz="2800" u="none" cap="none" strike="noStrike">
                <a:solidFill>
                  <a:srgbClr val="000000"/>
                </a:solidFill>
                <a:latin typeface="Arial"/>
                <a:ea typeface="Arial"/>
                <a:cs typeface="Arial"/>
                <a:sym typeface="Arial"/>
              </a:rPr>
              <a:t>Hub Link - </a:t>
            </a:r>
            <a:endParaRPr b="1" i="0" sz="2800" u="none" cap="none" strike="noStrike">
              <a:solidFill>
                <a:srgbClr val="000000"/>
              </a:solidFill>
              <a:latin typeface="Arial"/>
              <a:ea typeface="Arial"/>
              <a:cs typeface="Arial"/>
              <a:sym typeface="Arial"/>
            </a:endParaRPr>
          </a:p>
        </p:txBody>
      </p:sp>
      <p:sp>
        <p:nvSpPr>
          <p:cNvPr id="248" name="Google Shape;248;p41"/>
          <p:cNvSpPr/>
          <p:nvPr/>
        </p:nvSpPr>
        <p:spPr>
          <a:xfrm>
            <a:off x="1218724" y="1153712"/>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lang="en-US" sz="2000">
                <a:latin typeface="Times New Roman"/>
                <a:ea typeface="Times New Roman"/>
                <a:cs typeface="Times New Roman"/>
                <a:sym typeface="Times New Roman"/>
              </a:rPr>
              <a:t>Click Here: </a:t>
            </a:r>
            <a:r>
              <a:rPr lang="en-US" sz="2000" u="sng">
                <a:solidFill>
                  <a:schemeClr val="hlink"/>
                </a:solidFill>
                <a:latin typeface="Times New Roman"/>
                <a:ea typeface="Times New Roman"/>
                <a:cs typeface="Times New Roman"/>
                <a:sym typeface="Times New Roman"/>
                <a:hlinkClick r:id="rId3"/>
              </a:rPr>
              <a:t>https://github.com/priyankad9919/Smart-Farming-AI</a:t>
            </a:r>
            <a:endParaRPr b="0" i="0" sz="2000" u="none" cap="none" strike="noStrike">
              <a:solidFill>
                <a:srgbClr val="000000"/>
              </a:solidFill>
              <a:latin typeface="Times New Roman"/>
              <a:ea typeface="Times New Roman"/>
              <a:cs typeface="Times New Roman"/>
              <a:sym typeface="Times New Roman"/>
            </a:endParaRPr>
          </a:p>
        </p:txBody>
      </p:sp>
      <p:sp>
        <p:nvSpPr>
          <p:cNvPr id="249" name="Google Shape;249;p41"/>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50" name="Google Shape;250;p41"/>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51" name="Google Shape;251;p41"/>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2"/>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800" u="none" cap="none" strike="noStrike">
                <a:solidFill>
                  <a:srgbClr val="000000"/>
                </a:solidFill>
                <a:latin typeface="Arial"/>
                <a:ea typeface="Arial"/>
                <a:cs typeface="Arial"/>
                <a:sym typeface="Arial"/>
              </a:rPr>
              <a:t>Future Scope -</a:t>
            </a:r>
            <a:endParaRPr b="1" i="0" sz="2800" u="none" cap="none" strike="noStrike">
              <a:solidFill>
                <a:srgbClr val="000000"/>
              </a:solidFill>
              <a:latin typeface="Arial"/>
              <a:ea typeface="Arial"/>
              <a:cs typeface="Arial"/>
              <a:sym typeface="Arial"/>
            </a:endParaRPr>
          </a:p>
        </p:txBody>
      </p:sp>
      <p:sp>
        <p:nvSpPr>
          <p:cNvPr id="257" name="Google Shape;257;p42"/>
          <p:cNvSpPr/>
          <p:nvPr/>
        </p:nvSpPr>
        <p:spPr>
          <a:xfrm>
            <a:off x="1218725" y="1221725"/>
            <a:ext cx="9214500" cy="5297700"/>
          </a:xfrm>
          <a:prstGeom prst="rect">
            <a:avLst/>
          </a:prstGeom>
          <a:noFill/>
          <a:ln>
            <a:noFill/>
          </a:ln>
        </p:spPr>
        <p:txBody>
          <a:bodyPr anchorCtr="0" anchor="t" bIns="0" lIns="0" spcFirstLastPara="1" rIns="0" wrap="square" tIns="0">
            <a:noAutofit/>
          </a:bodyPr>
          <a:lstStyle/>
          <a:p>
            <a:pPr indent="-355600" lvl="0" marL="457200" rtl="0" algn="l">
              <a:lnSpc>
                <a:spcPct val="115000"/>
              </a:lnSpc>
              <a:spcBef>
                <a:spcPts val="1200"/>
              </a:spcBef>
              <a:spcAft>
                <a:spcPts val="0"/>
              </a:spcAft>
              <a:buClr>
                <a:schemeClr val="dk1"/>
              </a:buClr>
              <a:buSzPts val="2000"/>
              <a:buChar char="•"/>
            </a:pPr>
            <a:r>
              <a:rPr lang="en-US" sz="2000">
                <a:solidFill>
                  <a:schemeClr val="dk1"/>
                </a:solidFill>
              </a:rPr>
              <a:t>Integrate </a:t>
            </a:r>
            <a:r>
              <a:rPr b="1" lang="en-US" sz="2000">
                <a:solidFill>
                  <a:schemeClr val="dk1"/>
                </a:solidFill>
              </a:rPr>
              <a:t>real-time weather forecasting APIs</a:t>
            </a:r>
            <a:r>
              <a:rPr lang="en-US" sz="2000">
                <a:solidFill>
                  <a:schemeClr val="dk1"/>
                </a:solidFill>
              </a:rPr>
              <a:t> to provide location-specific farming recommendations.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Develop a </a:t>
            </a:r>
            <a:r>
              <a:rPr b="1" lang="en-US" sz="2000">
                <a:solidFill>
                  <a:schemeClr val="dk1"/>
                </a:solidFill>
              </a:rPr>
              <a:t>mobile application</a:t>
            </a:r>
            <a:r>
              <a:rPr lang="en-US" sz="2000">
                <a:solidFill>
                  <a:schemeClr val="dk1"/>
                </a:solidFill>
              </a:rPr>
              <a:t> for easy access to farming advice anytime and anywhere.</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Implement </a:t>
            </a:r>
            <a:r>
              <a:rPr b="1" lang="en-US" sz="2000">
                <a:solidFill>
                  <a:schemeClr val="dk1"/>
                </a:solidFill>
              </a:rPr>
              <a:t>image-based crop disease detection</a:t>
            </a:r>
            <a:r>
              <a:rPr lang="en-US" sz="2000">
                <a:solidFill>
                  <a:schemeClr val="dk1"/>
                </a:solidFill>
              </a:rPr>
              <a:t> using computer vision and deep learning techniques.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Continuously update the system with the latest government schemes, agricultural policies, and best farming practices.</a:t>
            </a:r>
            <a:endParaRPr b="1" i="0" sz="1850" u="none" cap="none" strike="noStrike">
              <a:solidFill>
                <a:srgbClr val="2B3541"/>
              </a:solidFill>
              <a:latin typeface="Times New Roman"/>
              <a:ea typeface="Times New Roman"/>
              <a:cs typeface="Times New Roman"/>
              <a:sym typeface="Times New Roman"/>
            </a:endParaRPr>
          </a:p>
        </p:txBody>
      </p:sp>
      <p:sp>
        <p:nvSpPr>
          <p:cNvPr id="258" name="Google Shape;258;p42"/>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59" name="Google Shape;259;p42"/>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60" name="Google Shape;260;p42"/>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3"/>
          <p:cNvSpPr txBox="1"/>
          <p:nvPr/>
        </p:nvSpPr>
        <p:spPr>
          <a:xfrm>
            <a:off x="327949" y="207380"/>
            <a:ext cx="6096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Certificates Earned</a:t>
            </a:r>
            <a:r>
              <a:rPr b="1" lang="en-US" sz="2800"/>
              <a:t> - </a:t>
            </a:r>
            <a:endParaRPr sz="2800"/>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66" name="Google Shape;266;p43" title="Screenshot 2026-06-29 100051.png"/>
          <p:cNvPicPr preferRelativeResize="0"/>
          <p:nvPr/>
        </p:nvPicPr>
        <p:blipFill>
          <a:blip r:embed="rId3">
            <a:alphaModFix/>
          </a:blip>
          <a:stretch>
            <a:fillRect/>
          </a:stretch>
        </p:blipFill>
        <p:spPr>
          <a:xfrm>
            <a:off x="2249675" y="946280"/>
            <a:ext cx="6657975" cy="5105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4"/>
          <p:cNvSpPr txBox="1"/>
          <p:nvPr/>
        </p:nvSpPr>
        <p:spPr>
          <a:xfrm>
            <a:off x="176696" y="226391"/>
            <a:ext cx="6096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Certificates Earned</a:t>
            </a:r>
            <a:r>
              <a:rPr b="1" lang="en-US" sz="2800"/>
              <a:t> - </a:t>
            </a:r>
            <a:endParaRPr b="0"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72" name="Google Shape;272;p44" title="Screenshot 2026-06-29 095929.png"/>
          <p:cNvPicPr preferRelativeResize="0"/>
          <p:nvPr/>
        </p:nvPicPr>
        <p:blipFill>
          <a:blip r:embed="rId3">
            <a:alphaModFix/>
          </a:blip>
          <a:stretch>
            <a:fillRect/>
          </a:stretch>
        </p:blipFill>
        <p:spPr>
          <a:xfrm>
            <a:off x="1760750" y="1228304"/>
            <a:ext cx="7610475" cy="45815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20"/>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cp:coreProperties>
</file>